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JaBzJ9u/gwkv/WAAbzQPtHlAC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65EC7E-4833-4B66-B54F-70F71910952A}">
  <a:tblStyle styleId="{1865EC7E-4833-4B66-B54F-70F7191095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91d93d55aa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91d93d55aa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91d93d55aa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11734b340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b11734b340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b11734b340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1d93d55aa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1d93d55aa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91d93d55aa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hyperlink" Target="http://drive.google.com/file/d/1RJPNdBDZvjm5UrwinT32fqXg2ZLhjbAI/view" TargetMode="External"/><Relationship Id="rId5" Type="http://schemas.openxmlformats.org/officeDocument/2006/relationships/image" Target="../media/image2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82350" y="199250"/>
            <a:ext cx="11653500" cy="35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Федеральное государственное автономное образовательное учреждение высшего образования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&lt;&lt;Национальный исследовательский университет ИТМО&gt;&gt;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Факультет систем управления и робототехники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Имитационное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моделирование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робототехнических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систем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ПРОЕКТ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МОДЕЛИРОВАНИЕ ОМНИРОБОТА НА ТРЁХ КОЛЁСАХ</a:t>
            </a:r>
            <a:endParaRPr b="1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234520" y="4068014"/>
            <a:ext cx="5818800" cy="16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Преподаватель: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Ракшин Е.А.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Выполнили: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506885 R4135c Голубева Я.Д.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412199 R4136c Романовская А.Д.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" name="Google Shape;24;g391d93d55aa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g391d93d55aa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273" y="498764"/>
            <a:ext cx="4804756" cy="4804756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g391d93d55aa_0_2"/>
          <p:cNvSpPr/>
          <p:nvPr/>
        </p:nvSpPr>
        <p:spPr>
          <a:xfrm>
            <a:off x="6234545" y="498787"/>
            <a:ext cx="59853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 и задач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и проекта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7;g391d93d55aa_0_2"/>
          <p:cNvSpPr/>
          <p:nvPr/>
        </p:nvSpPr>
        <p:spPr>
          <a:xfrm>
            <a:off x="6234545" y="2589439"/>
            <a:ext cx="5818800" cy="16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Цель:</a:t>
            </a:r>
            <a:r>
              <a:rPr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разработка и моделирование кинематики мобильного робота на трёх омни-колёсах.</a:t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Задачи: </a:t>
            </a:r>
            <a:endParaRPr b="1" i="0" sz="19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геометрической конфигурации робота</a:t>
            </a:r>
            <a:r>
              <a:rPr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параметров модели, 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разработка математической модели,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 уравнений прямой и обратной кинематики,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i="0" lang="en-US" sz="19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вычислительной модели.</a:t>
            </a:r>
            <a:endParaRPr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415636" y="833351"/>
            <a:ext cx="10141527" cy="581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15625" y="2485250"/>
            <a:ext cx="3558600" cy="17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Омнироботы представляют собой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класс мобильных робототехнических платформ, обладающих уникальными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маневренными 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характеристиками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позволяющими осуществлять движение по заданной траектории.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433500" y="1992375"/>
            <a:ext cx="3325200" cy="32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Их способность перемещаться в любом направлении без изменения ориентации корпуса открывает новые возможности для автоматизации складских комплексов, производственных линий и сервисных операций в условиях ограниченного пространства.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217975" y="2589450"/>
            <a:ext cx="3558600" cy="17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Омнироботы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всё чаще используются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систем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ах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умного производства для автоматизации производства и повышения производительности.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4" name="Google Shape;4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23702"/>
            <a:ext cx="4680065" cy="605166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5818909" y="523708"/>
            <a:ext cx="59853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темы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818909" y="3797327"/>
            <a:ext cx="5818800" cy="19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5610125" y="1250500"/>
            <a:ext cx="61422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 темы обусловлена растущими требованиями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 эффективности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логистических операций и необходимостью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создания гибких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производственных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отличие от традиционных роботов с дифференциальным приводом, омнироботы способны выполнять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сложные маневры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без потери времени на развороты (ввиду особенности конструкции и компактности), что значительно повышает производительность автоматизированных комплексов.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Кроме того, омниколесные роботы могут работать в условиях ограниченного пространства, что делает их незаменимыми в современных городских логистических центрах.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1454727" y="750224"/>
            <a:ext cx="10141527" cy="581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Определение геометрической конфигурации робота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454727" y="2078182"/>
            <a:ext cx="9975273" cy="681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Базовая модель: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для трёхколёсного омниробота используется наиболее распространённая и симметричная конфигурация с радиальным расположением колёс под углом 120° друг относительно друга.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454727" y="3241964"/>
            <a:ext cx="9975273" cy="93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Такая конфигурация обеспечивает изотропность подвижности — робот обладает одинаковой манёвренностью во всех направлениях. Это позволяет омниботу эффективно перемещаться и маневрировать в различных условиях эксплуатации.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4455" y="415636"/>
            <a:ext cx="3308465" cy="605166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831273" y="415633"/>
            <a:ext cx="59853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Расположение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колес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831275" y="997625"/>
            <a:ext cx="70356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Колесо 1 (W₁): направлено вдоль оси +X локальной системы координат (α₁ = 0°).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Колесо 2 (W₂): повернуто на 120° относительно оси +X (α₂ = 120°).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Колесо 3 (W₃): повернуто на 240° относительно оси +X (α₃ = 240°).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ИТОГО: У нас 3 колеса, расположенные равномерно по окружности с углом 120° между ними. Любая точка на окружности радиуса L: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 = L·cos(α)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 = L·sin(α)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где α – угол от оси +X.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1454727" y="750224"/>
            <a:ext cx="10141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Параметры модели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1454725" y="1332225"/>
            <a:ext cx="6959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Параметры модели: 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 = 0.04 м (радиус колеса)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 = 0.15 м (расстояние от центра до колеса)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α₁ = 0°, α₂ = 120°, α₃ = 240° (углы расположения 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колес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Координаты колёс в локальной системе: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W₁ = [ L,   0]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W₂ = [-L/2,  L√3/2]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W₃ = [-L/2, -L√3/2]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4400" y="1247662"/>
            <a:ext cx="3473376" cy="34733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6"/>
          <p:cNvSpPr txBox="1"/>
          <p:nvPr/>
        </p:nvSpPr>
        <p:spPr>
          <a:xfrm>
            <a:off x="7724400" y="4503225"/>
            <a:ext cx="384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Рисунок 1 - Пример типовой конструкции для робота на трёх омниколёсах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" name="Google Shape;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1" name="Google Shape;8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24455" y="415636"/>
            <a:ext cx="3308465" cy="605166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/>
          <p:nvPr/>
        </p:nvSpPr>
        <p:spPr>
          <a:xfrm>
            <a:off x="831273" y="415633"/>
            <a:ext cx="59853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Расчёт скоростей колёс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831275" y="3952925"/>
            <a:ext cx="6365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точного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управления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роботом важно учитывать как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линейную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скорость центра, так и вклад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угловой 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скорости каждого колеса.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Компонент скорости корпуса вдоль оси качения каждого колеса определяет </a:t>
            </a:r>
            <a:r>
              <a:rPr b="1"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скорость вращения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этого колеса.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831275" y="997625"/>
            <a:ext cx="63657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Скорость точки крепления колеса к корпусу робота = скорость центра + скорость вращения i колеса: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V_wheel_i = V_center + ω × r_i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где: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V_center = [vₓ, vᵧ]ᵀ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r_i = вектор от центра к колесу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 = угловая скорость робота 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0" name="Google Shape;9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"/>
          <p:cNvSpPr/>
          <p:nvPr/>
        </p:nvSpPr>
        <p:spPr>
          <a:xfrm>
            <a:off x="1454727" y="417715"/>
            <a:ext cx="10141527" cy="581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Прямая кинематика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1454727" y="1662545"/>
            <a:ext cx="4156364" cy="1429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Прямая кинематика определяет скорость движения робота в локальной системе координат по заданным скоростям вращения колёс. 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Решение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систем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ы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уравнений осуществляется относительно vₓ, vᵧ, ω.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858000" y="1662552"/>
            <a:ext cx="4156500" cy="28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Решение системы уравнений позволяет вычислить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линейные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угловые скорости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необходимые для корректного управления движением робота.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42857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Полученные значения vₓ, vᵧ, ω используются для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планирования траектории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 обеспечения точного позиционирования робота в пространстве.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4713" y="3591088"/>
            <a:ext cx="4010025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0" name="Google Shape;1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1" name="Google Shape;10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764" y="415636"/>
            <a:ext cx="3308465" cy="605166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9"/>
          <p:cNvSpPr/>
          <p:nvPr/>
        </p:nvSpPr>
        <p:spPr>
          <a:xfrm>
            <a:off x="4696691" y="1082733"/>
            <a:ext cx="5985164" cy="581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Обратная кинематика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12013" y="5220500"/>
            <a:ext cx="43434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 txBox="1"/>
          <p:nvPr/>
        </p:nvSpPr>
        <p:spPr>
          <a:xfrm>
            <a:off x="4696700" y="1664625"/>
            <a:ext cx="5985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Обратная кинематика определяет </a:t>
            </a:r>
            <a:r>
              <a:rPr b="1" lang="en-US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требуемые</a:t>
            </a: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скорости вращения каждого колеса для достижения заданной скорости движения робота в локальной системе координат. 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 данном случае, необходимо решить систему уравнений относительно угловых скоростей колес ω₁, ω₂, ω₃.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9"/>
          <p:cNvSpPr txBox="1"/>
          <p:nvPr/>
        </p:nvSpPr>
        <p:spPr>
          <a:xfrm>
            <a:off x="4696625" y="3442563"/>
            <a:ext cx="5985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Решение системы уравнений позволяет вычислить индивидуальные скорости моторов, необходимые для реализации желаемого вектора движения робота. Полученные значения ω₁, ω₂, ω₃ используются непосредственно в контуре управления приводами для точного исполнения команд по перемещению и вращению платформы.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1" name="Google Shape;1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0"/>
          <p:cNvSpPr/>
          <p:nvPr/>
        </p:nvSpPr>
        <p:spPr>
          <a:xfrm>
            <a:off x="1246909" y="417715"/>
            <a:ext cx="10141528" cy="581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Уравнения кинематики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6913" y="3515188"/>
            <a:ext cx="3276600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2150" y="1295375"/>
            <a:ext cx="3286125" cy="1924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" name="Google Shape;115;p10"/>
          <p:cNvGraphicFramePr/>
          <p:nvPr/>
        </p:nvGraphicFramePr>
        <p:xfrm>
          <a:off x="5657225" y="55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{1865EC7E-4833-4B66-B54F-70F71910952A}</a:tableStyleId>
              </a:tblPr>
              <a:tblGrid>
                <a:gridCol w="1531875"/>
                <a:gridCol w="2179675"/>
                <a:gridCol w="2019650"/>
              </a:tblGrid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Прямая кинематика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Обратная кинематика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 дано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Скорости колёс 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ω1,ω2,ω3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​</a:t>
                      </a:r>
                      <a:endParaRPr sz="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101600" marR="15240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Желаемая скорость робота 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vx,vy,ω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Что найти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Скорость робота 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vx,vy,ω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Требуемые скорости колёс 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ω1,ω2,ω3</a:t>
                      </a:r>
                      <a:endParaRPr sz="10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​</a:t>
                      </a:r>
                      <a:endParaRPr sz="1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1600" marB="101600" marR="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2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Когда используется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Одометрия: по данным энкодеров определить, как фактически движется робот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Управление: рассчитать, с какими скоростями должны вращаться колёса, чтобы робот двигался как нужно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Матричная форма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V=R⋅M−1Ω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Ω=1/RMV</a:t>
                      </a:r>
                      <a:endParaRPr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Сложность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Нужно обращать матрицу (или решать СЛАУ)</a:t>
                      </a:r>
                      <a:endParaRPr sz="120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15240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50">
                          <a:solidFill>
                            <a:srgbClr val="0F1115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Прямое вычисление по формуле</a:t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50">
                        <a:solidFill>
                          <a:srgbClr val="0F1115"/>
                        </a:solidFill>
                        <a:highlight>
                          <a:srgbClr val="FFFFFF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01600" marB="101600" marR="0" marL="1524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g3b11734b340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b11734b340_4_0"/>
          <p:cNvSpPr/>
          <p:nvPr/>
        </p:nvSpPr>
        <p:spPr>
          <a:xfrm>
            <a:off x="1121084" y="-10"/>
            <a:ext cx="10141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lang="en-US" sz="2200">
                <a:latin typeface="Calibri"/>
                <a:ea typeface="Calibri"/>
                <a:cs typeface="Calibri"/>
                <a:sym typeface="Calibri"/>
              </a:rPr>
              <a:t>Моделирование в MuJoCo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g3b11734b340_4_0" title="MuJoCo _ MuJoCo Model 2025-12-17 00-24-0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701" y="517375"/>
            <a:ext cx="7878274" cy="5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b11734b340_4_0"/>
          <p:cNvSpPr txBox="1"/>
          <p:nvPr/>
        </p:nvSpPr>
        <p:spPr>
          <a:xfrm>
            <a:off x="8461275" y="804750"/>
            <a:ext cx="3555900" cy="52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Результаты моделирования:</a:t>
            </a:r>
            <a:endParaRPr b="1" sz="15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Times New Roman"/>
              <a:buAutoNum type="arabicPeriod"/>
            </a:pPr>
            <a:r>
              <a:rPr lang="en-US" sz="15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Робот осуществляет движение на месте со смещением относительно центра.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Times New Roman"/>
              <a:buAutoNum type="arabicPeriod"/>
            </a:pPr>
            <a:r>
              <a:rPr lang="en-US" sz="15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Каждое из колёс осуществляет движение с заданной скоростью.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Times New Roman"/>
              <a:buAutoNum type="arabicPeriod"/>
            </a:pPr>
            <a:r>
              <a:rPr lang="en-US" sz="15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Одно из колёс менее стабильно за счёт неустойчивости конструкции, ввиду чего наблюдаются единичные искажения траектории относительно оси z. 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00"/>
              <a:buFont typeface="Times New Roman"/>
              <a:buAutoNum type="arabicPeriod"/>
            </a:pPr>
            <a:r>
              <a:rPr lang="en-US" sz="15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Движение в других направлениях затруднено за счёт недоработки особенностей конструкции колёс.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0" name="Google Shape;130;g391d93d55aa_1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91d93d55aa_1_9"/>
          <p:cNvSpPr/>
          <p:nvPr/>
        </p:nvSpPr>
        <p:spPr>
          <a:xfrm>
            <a:off x="1687359" y="178240"/>
            <a:ext cx="10141500" cy="5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lang="en-US" sz="2200">
                <a:latin typeface="Calibri"/>
                <a:ea typeface="Calibri"/>
                <a:cs typeface="Calibri"/>
                <a:sym typeface="Calibri"/>
              </a:rPr>
              <a:t>Дальнейшие исследования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91d93d55aa_1_9"/>
          <p:cNvSpPr txBox="1"/>
          <p:nvPr/>
        </p:nvSpPr>
        <p:spPr>
          <a:xfrm>
            <a:off x="346050" y="922800"/>
            <a:ext cx="80535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Результаты моделирования:</a:t>
            </a:r>
            <a:endParaRPr b="1"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 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соответствии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с результатами моделирования MuJoCo можно сделать вывод о том, что </a:t>
            </a:r>
            <a:r>
              <a:rPr b="1"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конструкция неустойчива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и нуждается в доработке. 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Рекомендуется введение дополнительных сухожилий для её стабилизации, а также подбор оптимальных скоростей, в соответствии с 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выполненными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расчетами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Для плавного движения омниробота во всех направлениях необходимо рассмотреть несколько вариантов крепления динамических элементов (колёс) и выбрать наиболее эффективный (один из 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возможных</a:t>
            </a: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вариантов представлен на рис.2). </a:t>
            </a:r>
            <a:endParaRPr sz="18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Times New Roman"/>
              <a:buChar char="●"/>
            </a:pPr>
            <a:r>
              <a:rPr lang="en-US" sz="18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На данном этапе, колёса в форме цилиндров допустимы только для использования в статических моделях, в качестве референса.</a:t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g391d93d55aa_1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9250" y="1705100"/>
            <a:ext cx="3447800" cy="3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91d93d55aa_1_9"/>
          <p:cNvSpPr txBox="1"/>
          <p:nvPr/>
        </p:nvSpPr>
        <p:spPr>
          <a:xfrm>
            <a:off x="8593300" y="5209800"/>
            <a:ext cx="3393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Рисунок 2 - Колесо</a:t>
            </a:r>
            <a:endParaRPr sz="15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0" name="Google Shape;14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1"/>
          <p:cNvSpPr/>
          <p:nvPr/>
        </p:nvSpPr>
        <p:spPr>
          <a:xfrm>
            <a:off x="1246909" y="2080260"/>
            <a:ext cx="10141528" cy="7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1246909" y="3325091"/>
            <a:ext cx="9975273" cy="1180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В работе 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мы рассмотрели основные аспекты кинематики омнироботов, включая определение их геометрической конфигурации, расчёт скоростей колёс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прямой и обратной кинематики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выполнен эскиз проекта с моделированием в MuJoCo.</a:t>
            </a:r>
            <a:r>
              <a:rPr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2025-12-14T11:38:25Z</dcterms:created>
  <dc:creator>PptxGenJS</dc:creator>
</cp:coreProperties>
</file>